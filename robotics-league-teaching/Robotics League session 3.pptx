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janis Visnevskis" userId="8cdb83ec65ec8098" providerId="LiveId" clId="{1D70597D-1BA2-445F-B83A-8F6DBCAF792B}"/>
    <pc:docChg chg="custSel modSld">
      <pc:chgData name="Krisjanis Visnevskis" userId="8cdb83ec65ec8098" providerId="LiveId" clId="{1D70597D-1BA2-445F-B83A-8F6DBCAF792B}" dt="2022-10-18T10:01:59.905" v="3" actId="1076"/>
      <pc:docMkLst>
        <pc:docMk/>
      </pc:docMkLst>
      <pc:sldChg chg="addSp delSp modSp mod">
        <pc:chgData name="Krisjanis Visnevskis" userId="8cdb83ec65ec8098" providerId="LiveId" clId="{1D70597D-1BA2-445F-B83A-8F6DBCAF792B}" dt="2022-10-18T10:01:59.905" v="3" actId="1076"/>
        <pc:sldMkLst>
          <pc:docMk/>
          <pc:sldMk cId="1923003904" sldId="262"/>
        </pc:sldMkLst>
        <pc:picChg chg="del">
          <ac:chgData name="Krisjanis Visnevskis" userId="8cdb83ec65ec8098" providerId="LiveId" clId="{1D70597D-1BA2-445F-B83A-8F6DBCAF792B}" dt="2022-10-18T10:01:54.746" v="0" actId="478"/>
          <ac:picMkLst>
            <pc:docMk/>
            <pc:sldMk cId="1923003904" sldId="262"/>
            <ac:picMk id="4" creationId="{CB688A4D-51DD-60ED-5282-1603ED22CA51}"/>
          </ac:picMkLst>
        </pc:picChg>
        <pc:picChg chg="add mod">
          <ac:chgData name="Krisjanis Visnevskis" userId="8cdb83ec65ec8098" providerId="LiveId" clId="{1D70597D-1BA2-445F-B83A-8F6DBCAF792B}" dt="2022-10-18T10:01:59.905" v="3" actId="1076"/>
          <ac:picMkLst>
            <pc:docMk/>
            <pc:sldMk cId="1923003904" sldId="262"/>
            <ac:picMk id="6" creationId="{234F1E13-B3A6-D707-A3EE-137C7D041D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4D30-54CD-4E91-B111-0B585F7C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9DB5-C3DF-4270-8D22-7B6D2A4D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D39B-6C5F-4BD0-AA52-494D6CAB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5848-B37D-4524-80AD-6D8A0B1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D98D-96F2-4F24-A3D6-C5A9C8D1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09CD-2FDB-426D-8C89-F17719A6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60FA-E328-482F-917A-A896619C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161-1007-4A6C-B531-10E6D48C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A094-C2C6-4184-8E5B-6B78188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703-B99F-4DBA-B5D0-521A5C0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5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D792-C9F3-481B-A28F-34CD61F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F6AB-4E21-4BDD-A468-1B6D7104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F7B1-F279-489F-9028-916357AF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F9BE-3A58-457B-B6F3-75B3EE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50-ECC8-40DD-97C8-DD4302F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3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127-C8DF-45D0-9CCB-C9803811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4E88-FCFA-4B35-90B3-5E84CBB16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A18D-20E0-49F0-B733-834E2D1C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1A9C1-E013-484D-97CB-35CB70D9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4AD4-674D-484D-B2F1-183C8A2D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1E13-5A2C-4CC6-B5A1-91C5A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1AC0-95B0-4019-8A07-49F0715D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1460-5DCE-4529-8CF9-A5B14AC1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6F8C-36B0-47D4-85F0-793EC6312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EF232-EAD7-4973-82CC-242BB661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42BD-8B4B-4E1A-A619-9F96481F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ED7DF-ECEB-487C-BE8D-200FB62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90381-612E-4AB9-A931-61FF18A3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DBC9-62B4-4922-ABB2-B7723FC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E148-AD77-437B-9829-72475213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1563E-31B5-4DA0-95F6-FD47D2C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D458A-CEF3-4D8C-98D6-C968C60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4C4-FB56-4175-B628-510FC311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D6B63-33A0-4D0D-9431-3847C57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58FF2-753D-4D40-A2AC-DAE69289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5DC7-A97F-4721-8505-6053D505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BBE0-2F76-4F88-A8E5-F9C28950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5358-2FB5-4626-8BDD-A9C7ECD4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22339-C59F-40F4-B725-F8C907CD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F795-1325-45B3-B9A7-63FFE6E4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3D57-5F00-46BF-8533-20C07332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E61CE-2841-4448-B252-926DEC6A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94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D45F-3AE4-4D8F-ADCD-321D5AB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4B319-BA82-49C0-8558-08FC20FFE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9E1D-AB31-4B3C-AB22-2E6F24A9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A2AE-B0D3-496D-BDE8-58F9E76E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7970-DCC2-4237-90CA-39CCABB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E859-FF70-4555-B621-F4968AC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5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829-B780-4230-88A1-683E8FAB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5871A-9848-4C0E-85B6-E9A732EA5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C387-4130-47E6-AC79-7754E8CF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ABDB-F098-4227-AC82-4A2C46F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D931-03DF-4163-89A7-7F7980F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9D125-47E8-4A5D-BA72-2458763E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39F59-1C1A-40E6-9D40-37211C4E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775B-14E2-4A94-ADBC-5CAC014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95CB-6348-4077-B641-F8AC1AF4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163-8992-47D4-AA87-28532B8D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4F37-7325-4103-8533-E5A1B54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17E6-883C-4B94-822F-940EE73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4479-60EA-4E9F-8092-214D1F1E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B6D-A496-42FB-8612-8DF61D867BD1}" type="datetimeFigureOut">
              <a:rPr lang="en-GB" smtClean="0"/>
              <a:t>18/10/2022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6E99-2E58-446C-A24F-0271246F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0F7-BC46-4514-A17C-0B3A2D415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19D19854-53D3-4920-893C-DD98AEFFE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50" y="108037"/>
            <a:ext cx="86619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FABD4-07A5-4ECA-BAEF-87C80D2803D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216310" y="3405648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B4BDE5-60B4-456F-AB94-253F0F503EFE}"/>
              </a:ext>
            </a:extLst>
          </p:cNvPr>
          <p:cNvCxnSpPr>
            <a:cxnSpLocks/>
          </p:cNvCxnSpPr>
          <p:nvPr/>
        </p:nvCxnSpPr>
        <p:spPr>
          <a:xfrm>
            <a:off x="8696387" y="3421380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What we have learned so far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17219" y="1730215"/>
            <a:ext cx="5242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Arduino programming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Input / 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Motor driver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Sensor reading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Interrupt service routines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Serial and I2C comms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3D modelling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Some insight into the operation of self balancing robots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(If something is not clear from previous examples you can have a look here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 )</a:t>
            </a: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F1E13-B3A6-D707-A3EE-137C7D041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26" y="1803748"/>
            <a:ext cx="4033423" cy="402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0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Missing pieces of the puzzle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Control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General concept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Practical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Program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Misc</a:t>
            </a:r>
            <a:r>
              <a:rPr lang="en-GB" sz="24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Sensor calibration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Complementary filter (combining </a:t>
            </a:r>
            <a:r>
              <a:rPr lang="en-GB" sz="2400" dirty="0" err="1">
                <a:solidFill>
                  <a:schemeClr val="bg1"/>
                </a:solidFill>
              </a:rPr>
              <a:t>acc</a:t>
            </a:r>
            <a:r>
              <a:rPr lang="en-GB" sz="2400" dirty="0">
                <a:solidFill>
                  <a:schemeClr val="bg1"/>
                </a:solidFill>
              </a:rPr>
              <a:t> + gyro data into single angle estimate)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Adding additional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11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Control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Input variable (reference signal):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PWM duty cycle driving the motor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Logic input for motor direction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Output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Angle of the robot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Goal of controller is to make:</a:t>
            </a:r>
          </a:p>
          <a:p>
            <a:r>
              <a:rPr lang="en-GB" sz="2400" dirty="0">
                <a:solidFill>
                  <a:schemeClr val="bg1"/>
                </a:solidFill>
              </a:rPr>
              <a:t>Target angle = Angle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96250-5150-2E59-B4DF-980709FE1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16" y="3485675"/>
            <a:ext cx="6094981" cy="272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Control system – contd.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For now assume target angle is 0 (robot just standing upright)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 case </a:t>
            </a:r>
            <a:r>
              <a:rPr lang="en-GB" sz="2400" b="1" u="sng" dirty="0">
                <a:solidFill>
                  <a:schemeClr val="bg1"/>
                </a:solidFill>
              </a:rPr>
              <a:t>A</a:t>
            </a:r>
            <a:r>
              <a:rPr lang="en-GB" sz="2400" dirty="0">
                <a:solidFill>
                  <a:schemeClr val="bg1"/>
                </a:solidFill>
              </a:rPr>
              <a:t> we want </a:t>
            </a:r>
            <a:r>
              <a:rPr lang="en-GB" sz="2400" b="1" u="sng" dirty="0">
                <a:solidFill>
                  <a:schemeClr val="bg1"/>
                </a:solidFill>
              </a:rPr>
              <a:t>positive</a:t>
            </a:r>
            <a:r>
              <a:rPr lang="en-GB" sz="2400" dirty="0">
                <a:solidFill>
                  <a:schemeClr val="bg1"/>
                </a:solidFill>
              </a:rPr>
              <a:t> motor direction, </a:t>
            </a:r>
            <a:r>
              <a:rPr lang="en-GB" sz="2400" b="1" u="sng" dirty="0">
                <a:solidFill>
                  <a:schemeClr val="bg1"/>
                </a:solidFill>
              </a:rPr>
              <a:t>low PWM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 case </a:t>
            </a:r>
            <a:r>
              <a:rPr lang="en-GB" sz="2400" b="1" u="sng" dirty="0">
                <a:solidFill>
                  <a:schemeClr val="bg1"/>
                </a:solidFill>
              </a:rPr>
              <a:t>B</a:t>
            </a:r>
            <a:r>
              <a:rPr lang="en-GB" sz="2400" dirty="0">
                <a:solidFill>
                  <a:schemeClr val="bg1"/>
                </a:solidFill>
              </a:rPr>
              <a:t> we want </a:t>
            </a:r>
            <a:r>
              <a:rPr lang="en-GB" sz="2400" b="1" u="sng" dirty="0">
                <a:solidFill>
                  <a:schemeClr val="bg1"/>
                </a:solidFill>
              </a:rPr>
              <a:t>positive</a:t>
            </a:r>
            <a:r>
              <a:rPr lang="en-GB" sz="2400" dirty="0">
                <a:solidFill>
                  <a:schemeClr val="bg1"/>
                </a:solidFill>
              </a:rPr>
              <a:t> motor direction but </a:t>
            </a:r>
            <a:r>
              <a:rPr lang="en-GB" sz="2400" b="1" u="sng" dirty="0">
                <a:solidFill>
                  <a:schemeClr val="bg1"/>
                </a:solidFill>
              </a:rPr>
              <a:t>higher PWM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 case </a:t>
            </a:r>
            <a:r>
              <a:rPr lang="en-GB" sz="2400" b="1" u="sng" dirty="0">
                <a:solidFill>
                  <a:schemeClr val="bg1"/>
                </a:solidFill>
              </a:rPr>
              <a:t>C</a:t>
            </a:r>
            <a:r>
              <a:rPr lang="en-GB" sz="2400" dirty="0">
                <a:solidFill>
                  <a:schemeClr val="bg1"/>
                </a:solidFill>
              </a:rPr>
              <a:t> we want </a:t>
            </a:r>
            <a:r>
              <a:rPr lang="en-GB" sz="2400" b="1" u="sng" dirty="0">
                <a:solidFill>
                  <a:schemeClr val="bg1"/>
                </a:solidFill>
              </a:rPr>
              <a:t>negative</a:t>
            </a:r>
            <a:r>
              <a:rPr lang="en-GB" sz="2400" dirty="0">
                <a:solidFill>
                  <a:schemeClr val="bg1"/>
                </a:solidFill>
              </a:rPr>
              <a:t> motor direction at </a:t>
            </a:r>
            <a:r>
              <a:rPr lang="en-GB" sz="2400" b="1" u="sng" dirty="0">
                <a:solidFill>
                  <a:schemeClr val="bg1"/>
                </a:solidFill>
              </a:rPr>
              <a:t>high PWM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8E5BB-3996-EED7-F9FF-C3583A50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17" y="2042160"/>
            <a:ext cx="5437312" cy="293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2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Control system – PID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Proportional, Integral, Derivative controller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If </a:t>
            </a:r>
            <a:r>
              <a:rPr lang="en-US" sz="2400" i="1" dirty="0">
                <a:solidFill>
                  <a:schemeClr val="bg1"/>
                </a:solidFill>
              </a:rPr>
              <a:t>a </a:t>
            </a:r>
            <a:r>
              <a:rPr lang="en-US" sz="2400" dirty="0">
                <a:solidFill>
                  <a:schemeClr val="bg1"/>
                </a:solidFill>
              </a:rPr>
              <a:t>is the angle, PWM is the signal sent to motor drivers</a:t>
            </a:r>
            <a:endParaRPr lang="en-US" sz="2400" i="1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Where </a:t>
            </a:r>
            <a:r>
              <a:rPr lang="en-US" sz="2400" dirty="0" err="1">
                <a:solidFill>
                  <a:schemeClr val="bg1"/>
                </a:solidFill>
              </a:rPr>
              <a:t>Kp</a:t>
            </a:r>
            <a:r>
              <a:rPr lang="en-US" sz="2400" dirty="0">
                <a:solidFill>
                  <a:schemeClr val="bg1"/>
                </a:solidFill>
              </a:rPr>
              <a:t>, Ki, </a:t>
            </a:r>
            <a:r>
              <a:rPr lang="en-US" sz="2400" dirty="0" err="1">
                <a:solidFill>
                  <a:schemeClr val="bg1"/>
                </a:solidFill>
              </a:rPr>
              <a:t>Kd</a:t>
            </a:r>
            <a:r>
              <a:rPr lang="en-US" sz="2400" dirty="0">
                <a:solidFill>
                  <a:schemeClr val="bg1"/>
                </a:solidFill>
              </a:rPr>
              <a:t> are constants that need to be tuned.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Examine the response plot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97DBE-2511-3D7A-9547-C053964FB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03" y="3653627"/>
            <a:ext cx="4026107" cy="577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5CE3B8-1AE9-29AD-5164-A93D429D7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704" y="1653361"/>
            <a:ext cx="5668229" cy="39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4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     PID, contd.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425780" y="1638211"/>
            <a:ext cx="90313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u="sng" dirty="0" err="1">
                <a:solidFill>
                  <a:schemeClr val="bg1"/>
                </a:solidFill>
              </a:rPr>
              <a:t>Kp</a:t>
            </a:r>
            <a:endParaRPr lang="en-US" sz="2400" u="sng" dirty="0">
              <a:solidFill>
                <a:schemeClr val="bg1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Proportional to error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Kp</a:t>
            </a:r>
            <a:r>
              <a:rPr lang="en-US" sz="2400" dirty="0">
                <a:solidFill>
                  <a:schemeClr val="bg1"/>
                </a:solidFill>
              </a:rPr>
              <a:t> = 1; PWM = 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Kp</a:t>
            </a:r>
            <a:r>
              <a:rPr lang="en-US" sz="2400" dirty="0">
                <a:solidFill>
                  <a:schemeClr val="bg1"/>
                </a:solidFill>
              </a:rPr>
              <a:t> = 5; PWM = 5*a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 Ki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Takes into account error and length of time spent below target. A sort of ‘cumulative’ error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Large Ki -&gt; reaches target faster, but increased oscillation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Kd</a:t>
            </a:r>
            <a:endParaRPr lang="en-US" sz="2400" dirty="0">
              <a:solidFill>
                <a:schemeClr val="bg1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Takes into account how quickly the output is changing. ‘Peers into the future’.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Large </a:t>
            </a:r>
            <a:r>
              <a:rPr lang="en-US" sz="2400" dirty="0" err="1">
                <a:solidFill>
                  <a:schemeClr val="bg1"/>
                </a:solidFill>
              </a:rPr>
              <a:t>Kd</a:t>
            </a:r>
            <a:r>
              <a:rPr lang="en-US" sz="2400" dirty="0">
                <a:solidFill>
                  <a:schemeClr val="bg1"/>
                </a:solidFill>
              </a:rPr>
              <a:t> -&gt; reduces oscillation and overshoot. Might make it unstable.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CE3B8-1AE9-29AD-5164-A93D429D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281" y="402998"/>
            <a:ext cx="4389737" cy="302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6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Practical considerations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61879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PWM is limited to [0, 255]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When computed PWM is negative, need to set |PWM| with reversed motor direction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When |PWM| &gt; 255, need to set it to 255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Motors won’t spin at all for low PWM values, good idea to find this value and set PWM in that range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CE3B8-1AE9-29AD-5164-A93D429D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41" y="2026502"/>
            <a:ext cx="4841333" cy="33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0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PID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561688" y="1653361"/>
            <a:ext cx="74674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Set </a:t>
            </a:r>
            <a:r>
              <a:rPr lang="en-US" sz="2400" dirty="0" err="1">
                <a:solidFill>
                  <a:schemeClr val="bg1"/>
                </a:solidFill>
              </a:rPr>
              <a:t>Kp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Kd</a:t>
            </a:r>
            <a:r>
              <a:rPr lang="en-US" sz="2400" dirty="0">
                <a:solidFill>
                  <a:schemeClr val="bg1"/>
                </a:solidFill>
              </a:rPr>
              <a:t>, Ki to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Increase </a:t>
            </a:r>
            <a:r>
              <a:rPr lang="en-US" sz="2400" dirty="0" err="1">
                <a:solidFill>
                  <a:schemeClr val="bg1"/>
                </a:solidFill>
              </a:rPr>
              <a:t>Kp</a:t>
            </a:r>
            <a:r>
              <a:rPr lang="en-US" sz="2400" dirty="0">
                <a:solidFill>
                  <a:schemeClr val="bg1"/>
                </a:solidFill>
              </a:rPr>
              <a:t>, until robot oscillates around the 0 degree 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Slowly increase Ki so that the robot reaches 0 point faster (motors spin faster when angle is larger)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Slowly increase </a:t>
            </a:r>
            <a:r>
              <a:rPr lang="en-US" sz="2400" dirty="0" err="1">
                <a:solidFill>
                  <a:schemeClr val="bg1"/>
                </a:solidFill>
              </a:rPr>
              <a:t>Kd</a:t>
            </a:r>
            <a:r>
              <a:rPr lang="en-US" sz="2400" dirty="0">
                <a:solidFill>
                  <a:schemeClr val="bg1"/>
                </a:solidFill>
              </a:rPr>
              <a:t> to reduce oscillations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Try incrementing each of the parameters up and down and see what works best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PID constants will be different for each robot.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might be one of the more difficult steps in building the robot. PID tuning is famously frustrating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CE3B8-1AE9-29AD-5164-A93D429D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978" y="635250"/>
            <a:ext cx="3778169" cy="260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360436" y="858868"/>
            <a:ext cx="87522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Program </a:t>
            </a:r>
          </a:p>
          <a:p>
            <a:r>
              <a:rPr lang="en-US" sz="4400" dirty="0">
                <a:solidFill>
                  <a:schemeClr val="bg1"/>
                </a:solidFill>
              </a:rPr>
              <a:t>Flow -&gt;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BDB2BF-4E8F-747C-2762-4C300605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679" y="148795"/>
            <a:ext cx="9483011" cy="649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1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63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875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Global scope: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789CE-121E-EF4B-60B2-FCE7A666F3DA}"/>
              </a:ext>
            </a:extLst>
          </p:cNvPr>
          <p:cNvSpPr txBox="1"/>
          <p:nvPr/>
        </p:nvSpPr>
        <p:spPr>
          <a:xfrm>
            <a:off x="561689" y="1653361"/>
            <a:ext cx="50374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bg1"/>
                </a:solidFill>
              </a:rPr>
              <a:t> - Constant values defined with macros (#define)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- Volatile keyword used for variables whose value could change during the ISR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39BCE-A208-7364-B4CE-6709E28A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13" y="1516151"/>
            <a:ext cx="5816899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9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63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875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Setup():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F4DAB-CAA9-A913-691F-44ED4225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445" y="1149263"/>
            <a:ext cx="5664491" cy="14161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7BE2D-0170-2AD9-CF2F-2B8AB7776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938" y="3074796"/>
            <a:ext cx="3416476" cy="3238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B4741A-4242-CEE1-B2DE-8046F559DD99}"/>
              </a:ext>
            </a:extLst>
          </p:cNvPr>
          <p:cNvSpPr txBox="1"/>
          <p:nvPr/>
        </p:nvSpPr>
        <p:spPr>
          <a:xfrm>
            <a:off x="561689" y="1653361"/>
            <a:ext cx="50374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bg1"/>
                </a:solidFill>
              </a:rPr>
              <a:t>(Here the setup is incomplete, initialization of I/O and sensor is covered in previous session)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Any other initialization such as </a:t>
            </a:r>
            <a:r>
              <a:rPr lang="en-US" sz="2400" dirty="0" err="1">
                <a:solidFill>
                  <a:schemeClr val="bg1"/>
                </a:solidFill>
              </a:rPr>
              <a:t>Serial.begin</a:t>
            </a:r>
            <a:r>
              <a:rPr lang="en-US" sz="2400" dirty="0">
                <a:solidFill>
                  <a:schemeClr val="bg1"/>
                </a:solidFill>
              </a:rPr>
              <a:t>(); should be placed here as well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6A2D96-116E-D58D-C1D3-B96D224CBA23}"/>
              </a:ext>
            </a:extLst>
          </p:cNvPr>
          <p:cNvCxnSpPr/>
          <p:nvPr/>
        </p:nvCxnSpPr>
        <p:spPr>
          <a:xfrm>
            <a:off x="7121046" y="2223370"/>
            <a:ext cx="1371600" cy="95824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75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63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875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Loop():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4741A-4242-CEE1-B2DE-8046F559DD99}"/>
              </a:ext>
            </a:extLst>
          </p:cNvPr>
          <p:cNvSpPr txBox="1"/>
          <p:nvPr/>
        </p:nvSpPr>
        <p:spPr>
          <a:xfrm>
            <a:off x="561689" y="1653361"/>
            <a:ext cx="6031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bg1"/>
                </a:solidFill>
              </a:rPr>
              <a:t>We don’t actually do much in the loop here: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Read sensor output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Set motor speed</a:t>
            </a:r>
          </a:p>
          <a:p>
            <a:pPr marL="800100" lvl="1" indent="-342900">
              <a:buFontTx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 number of other things could be done in the loop: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Getting a reading from distance sensor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Blinking some LEDs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Printing outputs to Serial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Getting control signals from user (via switches or remote)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8EB56-DCF1-61E4-83C1-6272439A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356" y="2537652"/>
            <a:ext cx="3930852" cy="16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70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63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875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ISR():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4741A-4242-CEE1-B2DE-8046F559DD99}"/>
              </a:ext>
            </a:extLst>
          </p:cNvPr>
          <p:cNvSpPr txBox="1"/>
          <p:nvPr/>
        </p:nvSpPr>
        <p:spPr>
          <a:xfrm>
            <a:off x="84677" y="5650756"/>
            <a:ext cx="10924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bg1"/>
                </a:solidFill>
              </a:rPr>
              <a:t>This is where the control system equations live. Note that all operations here are simple </a:t>
            </a:r>
            <a:r>
              <a:rPr lang="en-US" sz="2400" dirty="0" err="1">
                <a:solidFill>
                  <a:schemeClr val="bg1"/>
                </a:solidFill>
              </a:rPr>
              <a:t>maths</a:t>
            </a:r>
            <a:r>
              <a:rPr lang="en-US" sz="2400" dirty="0">
                <a:solidFill>
                  <a:schemeClr val="bg1"/>
                </a:solidFill>
              </a:rPr>
              <a:t> and assignments (stuff that the Arduino is really fast 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AB1AF-A663-E4E3-D2EB-BE93989D4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92" y="1709300"/>
            <a:ext cx="10306580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63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875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Final remarks: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4741A-4242-CEE1-B2DE-8046F559DD99}"/>
              </a:ext>
            </a:extLst>
          </p:cNvPr>
          <p:cNvSpPr txBox="1"/>
          <p:nvPr/>
        </p:nvSpPr>
        <p:spPr>
          <a:xfrm>
            <a:off x="633660" y="1773951"/>
            <a:ext cx="1092467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is essentially, how the final program should look like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 have shared the example on the drive as </a:t>
            </a:r>
            <a:r>
              <a:rPr lang="en-US" sz="2400" dirty="0" err="1">
                <a:solidFill>
                  <a:schemeClr val="bg1"/>
                </a:solidFill>
              </a:rPr>
              <a:t>PID_example.ino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rest of the examples contain chunks of code which will help you with filling out the ‘TODO’ sections in the </a:t>
            </a:r>
            <a:r>
              <a:rPr lang="en-US" sz="2400" dirty="0" err="1">
                <a:solidFill>
                  <a:schemeClr val="bg1"/>
                </a:solidFill>
              </a:rPr>
              <a:t>PID_example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Next step - </a:t>
            </a:r>
            <a:r>
              <a:rPr lang="en-US" sz="2400" u="sng" dirty="0">
                <a:solidFill>
                  <a:schemeClr val="bg1"/>
                </a:solidFill>
              </a:rPr>
              <a:t>get building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</a:p>
          <a:p>
            <a:pPr lvl="1"/>
            <a:endParaRPr 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/>
            <a:r>
              <a:rPr 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Useful resources: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instructables.com / arduino.cc – contain user submitted projects that might be useful to take inspiration from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the drive – contains all the examples I’ve discussed during these sessions as well as presentations</a:t>
            </a:r>
          </a:p>
          <a:p>
            <a:pPr marL="800100" lvl="1" indent="-342900">
              <a:buFontTx/>
              <a:buChar char="-"/>
            </a:pPr>
            <a:endParaRPr lang="en-US" sz="2400" b="1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210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703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Krisjanis Visnevskis</dc:creator>
  <cp:lastModifiedBy>Krisjanis Visnevskis</cp:lastModifiedBy>
  <cp:revision>26</cp:revision>
  <dcterms:created xsi:type="dcterms:W3CDTF">2020-10-04T12:40:01Z</dcterms:created>
  <dcterms:modified xsi:type="dcterms:W3CDTF">2022-10-18T10:02:09Z</dcterms:modified>
</cp:coreProperties>
</file>